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大手ゼネコン5社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6E4F0"/>
                </a:solidFill>
              </a:rPr>
              <a:t>IT・DX部門 組織構成 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鹿島建設  ／  大林組  ／  清水建設  ／  大成建設  ／  竹中工務店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</a:rPr>
              <a:t>調査日：2026年3月28日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概要比較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5社のIT/DX組織構成の全体像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600200" cy="43891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社名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143000"/>
            <a:ext cx="2148840" cy="43891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DX部門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143000"/>
            <a:ext cx="2514600" cy="43891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情報システム部門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43000"/>
            <a:ext cx="1325880" cy="43891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統合/分離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4114800" cy="43891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特記事項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81912"/>
            <a:ext cx="16002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75E"/>
                </a:solidFill>
              </a:rPr>
              <a:t>鹿島建設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581912"/>
            <a:ext cx="214884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デジタル推進室
（社長直轄）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581912"/>
            <a:ext cx="25146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ITソリューション部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581912"/>
            <a:ext cx="132588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0392B"/>
                </a:solidFill>
              </a:rPr>
              <a:t>分離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581912"/>
            <a:ext cx="41148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2021年DX専任組織新設。建設・事業・業務DXの3区分で推進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59736"/>
            <a:ext cx="1600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75E"/>
                </a:solidFill>
              </a:rPr>
              <a:t>大林組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459736"/>
            <a:ext cx="21488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DX本部
（社長直轄）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459736"/>
            <a:ext cx="2514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DX本部に統合済み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459736"/>
            <a:ext cx="13258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77A48"/>
                </a:solidFill>
              </a:rPr>
              <a:t>統合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459736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2022年に情報システム・BIM・業務改革を一本化。約200名体制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37560"/>
            <a:ext cx="16002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75E"/>
                </a:solidFill>
              </a:rPr>
              <a:t>清水建設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337560"/>
            <a:ext cx="214884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DX経営推進室
（社長直轄）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337560"/>
            <a:ext cx="25146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情報システム部
（同室内）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337560"/>
            <a:ext cx="132588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77A48"/>
                </a:solidFill>
              </a:rPr>
              <a:t>統合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337560"/>
            <a:ext cx="41148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「DX注目企業2025」選定。DXコア人財120名・デジタル活用人財2,000名育成計画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15383"/>
            <a:ext cx="1600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75E"/>
                </a:solidFill>
              </a:rPr>
              <a:t>大成建設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4215383"/>
            <a:ext cx="21488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DX戦略部
（社長室傘下）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215383"/>
            <a:ext cx="2514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情報企画部
（別組織）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215383"/>
            <a:ext cx="13258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0392B"/>
                </a:solidFill>
              </a:rPr>
              <a:t>分離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215383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業界初のCDO設置。情報子会社も活用した3層構造。「DX銘柄2025」選定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93208"/>
            <a:ext cx="16002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75E"/>
                </a:solidFill>
              </a:rPr>
              <a:t>竹中工務店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5093208"/>
            <a:ext cx="214884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デジタル室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093208"/>
            <a:ext cx="25146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デジタル室に統合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093208"/>
            <a:ext cx="132588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77A48"/>
                </a:solidFill>
              </a:rPr>
              <a:t>統合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5093208"/>
            <a:ext cx="4114800" cy="841248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06060"/>
                </a:solidFill>
              </a:rPr>
              <a:t>旧グループICT推進室を改組。AWS上に建設デジタルプラットフォーム構築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鹿島建設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DXと情報システム：分離型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8288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分離型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143000"/>
            <a:ext cx="457200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社長直轄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691640"/>
            <a:ext cx="2926080" cy="8229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デジタル推進室
（Digital Promotion Office）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2926080" cy="8229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ITソリューション部
（旧：情報システム部）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←  連携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697480"/>
            <a:ext cx="292608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【デジタル推進室】
・2021年1月 新設（社長直轄）
・建設DX / 事業DX / 業務DX の3区分
・土木・建築・事務・ITの多職種混成
・デジタル人材育成メニューの構築
・社内外デジタル課題の解決ハブ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97480"/>
            <a:ext cx="292608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【ITソリューション部】
・旧称：情報システム部
・社内ICTインフラ整備・運用
・情報システム管理
・専務執行役員が管掌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▶ DX戦略立案 と IT基盤運用 を明確に分けた二層構造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大林組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DXと情報システム：統合型（DX本部に一本化）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828800" cy="347472"/>
          </a:xfrm>
          <a:prstGeom prst="rect">
            <a:avLst/>
          </a:prstGeom>
          <a:solidFill>
            <a:srgbClr val="27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統合型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143000"/>
            <a:ext cx="365760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DX本部（社長直轄） ── 約200名体制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920240"/>
            <a:ext cx="2560320" cy="53035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生産DX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450592"/>
            <a:ext cx="2560320" cy="2670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・BIM推進
・現場デジタル化
・自動化・ロボット化
・スマート生産技術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920240"/>
            <a:ext cx="2560320" cy="5303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バックオフィスDX
（旧：情報システム部門）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450592"/>
            <a:ext cx="2560320" cy="2670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・社内データ統合・活用
・システムスリム化
・業務自動化・省人化
・生成AI（O-Bot Assistant）
・クラウドシフト（2025年完了）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920240"/>
            <a:ext cx="2560320" cy="530352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情報セキュリティ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450592"/>
            <a:ext cx="2560320" cy="2670048"/>
          </a:xfrm>
          <a:prstGeom prst="rect">
            <a:avLst/>
          </a:prstGeom>
          <a:solidFill>
            <a:srgbClr val="FFFFFF"/>
          </a:solidFill>
          <a:ln w="1524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・サイバーセキュリティ強化
・GRC統括
・ICT投資の最適化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486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</a:rPr>
              <a:t>組織変遷：情報システムセンター（1991）→ グローバルICT推進室（2010）→ BIM推進室（2010）→ デジタル推進室（2020）→ DX本部（2022）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943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▶ 業界でも珍しく情報システムとDXを完全統合。200名規模の強力な専門組織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清水建設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DXと情報システム：統合型（一体運営）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828800" cy="347472"/>
          </a:xfrm>
          <a:prstGeom prst="rect">
            <a:avLst/>
          </a:prstGeom>
          <a:solidFill>
            <a:srgbClr val="27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統合型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143000"/>
            <a:ext cx="411480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DX経営推進室（社長直轄）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874519"/>
            <a:ext cx="347472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情報システム部
（室井俊一部長）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3474720" cy="5943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基盤システム部
（インフラ企画Gなど）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743200"/>
            <a:ext cx="41148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【中期DX戦略〈2024-2026〉の柱】
①  経営視点でDXを推進する社長直轄組織の設置
②  ワンストップでデータをつなげるプラットフォーム整備
③  組織横断DX推進体制の構築
④  事業部門間の人財ローテーション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43200"/>
            <a:ext cx="5029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【人材育成目標（3年間）】
・DXコア人財：120名
  （データ×デジタルで業務変革・新規事業創出をリード）
・デジタル活用人財：2,000名以上
  （部門内業務改善を推進できるITツール活用層）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868680" cy="16459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DX
注目
企業
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943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▶ 企画から運用まで一貫してDX経営推進室が担う統合モデル。経産省「DX注目企業2025」選定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大成建設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DXと情報システム：分離型（CDO・CIO設置、3層構造）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8288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分離型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43000"/>
            <a:ext cx="5943600" cy="38404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DX推進委員会  ／  CDO兼CIO（常務執行役員）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64208"/>
            <a:ext cx="27432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DX戦略部（2024年新設）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64208"/>
            <a:ext cx="2743200" cy="38404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情報企画部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連携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377440"/>
            <a:ext cx="320040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【DX戦略部】
・全社横断DX戦略の策定・推進
・デジタル活用による新規サービス創出
・デジタル人財戦略
・CDO直下の組織（社長室傘下）
・社長室DX戦略部長：野村 淳 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377440"/>
            <a:ext cx="320040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【情報企画部】
・ICT戦略・企画・調達
・GRC（ガバナンス・リスク・コンプライアンス）統括
・全社IT投資評価・見える化
・企画/コンサル/推進/IT調達の4室構成
・情報子会社と連携・役割分担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47472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【大成建設ICTソリューションズ】
（旧：大成情報システム）
・2025年7月に社名変更
・システム開発・保守・運用
・グループ全体のICTサポート
・情報企画部と一体で機能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77440"/>
            <a:ext cx="502920" cy="13716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DX
銘柄
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349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業界初のCDO設置。DX戦略・IT基盤（情報企画部）・情報子会社の3層構造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943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▶ CDO/CIOを設置し、経営とITを直結。「DX銘柄2025」に建設業で初選定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竹中工務店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DXと情報システム：統合型（デジタル室）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828800" cy="347472"/>
          </a:xfrm>
          <a:prstGeom prst="rect">
            <a:avLst/>
          </a:prstGeom>
          <a:solidFill>
            <a:srgbClr val="27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統合型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143000"/>
            <a:ext cx="457200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デジタル室（2022年3月新設）
岩下敬三 執行役員 デジタル室長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737360"/>
            <a:ext cx="4572000" cy="41148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デジタル変革推進タスクフォース
（本社管理系・プロジェクト系・各事業部デジタル推進責任者）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468880"/>
            <a:ext cx="301752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【業務効率化 DX】
・全業務のデジタル化
・200以上のアプリをAWSへ移行
・ITインフラコスト25%以上削減
・新人事システムへのデジタル
  アダプション導入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468880"/>
            <a:ext cx="301752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【事業変革 DX】
・建設デジタルプラットフォーム構築
  （AWS上にデータ統合基盤）
・営業/設計/見積/施工管理等
  全データをBIで可視化・AI予測
・非上場ながら先進的なICT戦略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468880"/>
            <a:ext cx="347472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【デジタル人材育成】
・事務系新入社員の配属ローテに
  デジタル室を追加（2022年〜）
・ITリテラシー・DXリテラシー・
  データリテラシーを育成
・旧グループICT推進室から
  デジタル室へ改組・強化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</a:rPr>
              <a:t>組織変遷：グループICT推進室 → デジタル室（2022年3月）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943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▶ 非上場だが先進的なDX体制。情報システムとDXをデジタル室に統合、AWS全社基盤を構築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総括・考察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</a:rPr>
              <a:t>5社の傾向と示唆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7552"/>
            <a:ext cx="12188952" cy="5870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</a:rPr>
              <a:t>大手ゼネコン5社 IT/DX部門 組織構成調査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
5社すべてがDX推進組織を社長直轄または社長室傘下に配置。
経営意思を直接現場に伝達する体制を重視。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社長直轄化（全社共通）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6692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
統合型（3社）：大林組・清水建設・竹中工務店
分離型（2社）：鹿島建設・大成建設
統合型が多数派。ただし分離型でも連携体制を整備。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66928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統合型 vs 分離型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33472"/>
            <a:ext cx="56692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
大成建設のみ情報子会社（ICTソリューションズ）を活用した3層構造。
社名変更で「情報システム」から「ICTソリューション」へシフト。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33472"/>
            <a:ext cx="566928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情報子会社の活用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33472"/>
            <a:ext cx="56692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
大成建設が業界初のCDO設置。他社はCIO兼任または役員管掌レベル。
デジタルガバナンスの高度化が業界全体の課題。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33472"/>
            <a:ext cx="566928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CDO/CIOの設置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23944"/>
            <a:ext cx="56692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
大林組が最大規模（DX本部 約200名）。
他社は室・部レベル（数十名規模）。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23944"/>
            <a:ext cx="566928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組織規模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123944"/>
            <a:ext cx="56692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06060"/>
                </a:solidFill>
              </a:rPr>
              <a:t>
大成建設：DX銘柄2025（建設業初）
清水建設：DX注目企業2025
各社が経産省認定を通じてDX成熟度を対外的にアピール。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23944"/>
            <a:ext cx="566928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DX評価・外部認定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