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2026年3月28日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大手ゼネコン5社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IT・DX部門 組織構成 調査レポート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263640"/>
            <a:ext cx="256032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6272783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&gt;|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300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ENTAAR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3032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© Entaar,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概要比較　── 5社のIT/DX組織構成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150876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社名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914400"/>
            <a:ext cx="196596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DX部門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914400"/>
            <a:ext cx="2240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情報システム部門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14400"/>
            <a:ext cx="105156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統合/分離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914400"/>
            <a:ext cx="484632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特記事項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15087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A6B"/>
                </a:solidFill>
              </a:rPr>
              <a:t>鹿島建設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280160"/>
            <a:ext cx="19659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デジタル推進室
（社長直轄）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280160"/>
            <a:ext cx="224028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ITソリューション部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10515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</a:rPr>
              <a:t>分離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280160"/>
            <a:ext cx="484632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2021年DX専任組織新設。建設・事業・業務DXの3区分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5087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A6B"/>
                </a:solidFill>
              </a:rPr>
              <a:t>大林組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194560"/>
            <a:ext cx="19659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DX本部
（社長直轄）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194560"/>
            <a:ext cx="22402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DX本部に統合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194560"/>
            <a:ext cx="10515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77A48"/>
                </a:solidFill>
              </a:rPr>
              <a:t>統合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194560"/>
            <a:ext cx="4846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2022年に情報システム・BIM・業務改革を一本化。約200名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108960"/>
            <a:ext cx="15087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A6B"/>
                </a:solidFill>
              </a:rPr>
              <a:t>清水建設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108960"/>
            <a:ext cx="19659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DX経営推進室
（社長直轄）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3108960"/>
            <a:ext cx="224028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情報システム部
（同室内）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10515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77A48"/>
                </a:solidFill>
              </a:rPr>
              <a:t>統合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108960"/>
            <a:ext cx="484632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DX注目企業2025選定。DXコア人財120名育成計画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23360"/>
            <a:ext cx="15087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A6B"/>
                </a:solidFill>
              </a:rPr>
              <a:t>大成建設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023360"/>
            <a:ext cx="19659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DX戦略部
（社長室傘下）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023360"/>
            <a:ext cx="22402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情報企画部
（別組織）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023360"/>
            <a:ext cx="10515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</a:rPr>
              <a:t>分離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023360"/>
            <a:ext cx="4846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業界初CDO設置。情報子会社含む3層構造。DX銘柄2025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937760"/>
            <a:ext cx="15087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A6B"/>
                </a:solidFill>
              </a:rPr>
              <a:t>竹中工務店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4937760"/>
            <a:ext cx="19659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デジタル室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4937760"/>
            <a:ext cx="224028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デジタル室に統合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37760"/>
            <a:ext cx="105156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77A48"/>
                </a:solidFill>
              </a:rPr>
              <a:t>統合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4937760"/>
            <a:ext cx="4846320" cy="877824"/>
          </a:xfrm>
          <a:prstGeom prst="rect">
            <a:avLst/>
          </a:prstGeom>
          <a:solidFill>
            <a:srgbClr val="F7F8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55555"/>
                </a:solidFill>
              </a:rPr>
              <a:t>旧グループICT推進室を改組。AWS全社基盤を構築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鹿島建設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41248"/>
            <a:ext cx="9144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分離型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841248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DX戦略立案（デジタル推進室）と IT基盤運用（ITソリューション部）を明確に分けた二層構造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デジタル推進室（社長直轄）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・2021年1月 新設（社長直轄）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・建設DX / 事業DX / 業務DX の3区分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・土木・建築・事務・ITの多職種混成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・デジタル人材育成メニューの構築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・社内外デジタル課題の解決ハブ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・中期経営計画（2024-2026）でもDXを重点テーマに設定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34440"/>
            <a:ext cx="5669280" cy="365760"/>
          </a:xfrm>
          <a:prstGeom prst="rect">
            <a:avLst/>
          </a:prstGeom>
          <a:solidFill>
            <a:srgbClr val="2E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ITソリューション部（旧：情報システム部）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・社内ICTインフラ整備・運用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・情報システム管理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・専務執行役員が管掌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・セキュリティ基盤の整備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大林組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41248"/>
            <a:ext cx="914400" cy="256032"/>
          </a:xfrm>
          <a:prstGeom prst="rect">
            <a:avLst/>
          </a:prstGeom>
          <a:solidFill>
            <a:srgbClr val="27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統合型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841248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業界でも珍しく情報システムとDXを完全統合。200名規模の強力な専門組織（DX本部）を形成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DX本部（社長直轄）　約200名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【統合前の3部門】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・旧 情報システム部門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・BIM生産基盤部門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・業務プロセス改革部門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【変遷】情報システムセンター(1991)→ICT推進室(2010)→デジタル推進室(2020)→DX本部(2022)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34440"/>
            <a:ext cx="5669280" cy="365760"/>
          </a:xfrm>
          <a:prstGeom prst="rect">
            <a:avLst/>
          </a:prstGeom>
          <a:solidFill>
            <a:srgbClr val="2E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DX本部 3本柱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① 生産DX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BIM推進・現場デジタル化・自動化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② バックオフィスDX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社内データ統合・生成AI（O-Bot）・クラウドシフト（2025年完了）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③ 情報セキュリティ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GRC統括・ICT投資最適化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清水建設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41248"/>
            <a:ext cx="914400" cy="256032"/>
          </a:xfrm>
          <a:prstGeom prst="rect">
            <a:avLst/>
          </a:prstGeom>
          <a:solidFill>
            <a:srgbClr val="27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統合型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841248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企画から運用まで一貫してDX経営推進室が担う統合モデル。経産省「DX注目企業2025」選定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DX経営推進室（社長直轄）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【室内の部署】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・情報システム部（室井俊一部長）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データ管理G・システム開発G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・基盤システム部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インフラ企画G・運用G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中期DX戦略〈2024-2026〉を策定・推進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34440"/>
            <a:ext cx="5669280" cy="365760"/>
          </a:xfrm>
          <a:prstGeom prst="rect">
            <a:avLst/>
          </a:prstGeom>
          <a:solidFill>
            <a:srgbClr val="2E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人材育成目標（3年間）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① DXコア人財：120名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データ×デジタルで業務変革・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新規事業創出をリード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② デジタル活用人財：2,000名以上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部門内業務改善を推進できる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 ITツール活用層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★ DX注目企業2025 選定（経産省）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大成建設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41248"/>
            <a:ext cx="9144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分離型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841248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CDO/CIOを設置した業界初の事例。DX戦略・IT基盤・情報子会社の3層構造。「DX銘柄2025」選定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DX推進委員会 ／ CDO兼CIO（常務執行役員）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【DX戦略部】2024年1月新設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・全社DX戦略策定・推進（社長室傘下）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・デジタル新規サービス創出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・デジタル人財戦略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【情報企画部】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・ICT戦略・企画・調達・GRC統括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・IT投資評価（企画/コンサル/推進/調達の4室）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34440"/>
            <a:ext cx="5669280" cy="365760"/>
          </a:xfrm>
          <a:prstGeom prst="rect">
            <a:avLst/>
          </a:prstGeom>
          <a:solidFill>
            <a:srgbClr val="2E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大成建設ICTソリューションズ（情報子会社）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・旧称：大成情報システム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・2025年7月 社名変更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・システム開発・保守・運用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・グループ全体のICTサポート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・情報企画部と一体で機能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★ DX銘柄2025 選定（建設業初）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竹中工務店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41248"/>
            <a:ext cx="914400" cy="256032"/>
          </a:xfrm>
          <a:prstGeom prst="rect">
            <a:avLst/>
          </a:prstGeom>
          <a:solidFill>
            <a:srgbClr val="27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統合型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841248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非上場ながら先進的なDX体制。情報システムとDXをデジタル室に統合し、AWS全社基盤を構築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デジタル室（2022年3月新設）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・旧 グループICT推進室 を改組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・岩下敬三 執行役員 デジタル室長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・デジタル変革推進タスクフォースの事務局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（本社管理系・PJ系・各事業部DX推進責任者）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【変遷】グループICT推進室 → デジタル室（2022）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234440"/>
            <a:ext cx="5669280" cy="365760"/>
          </a:xfrm>
          <a:prstGeom prst="rect">
            <a:avLst/>
          </a:prstGeom>
          <a:solidFill>
            <a:srgbClr val="2E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建設デジタルプラットフォーム（AWS）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600200"/>
            <a:ext cx="566928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1A1A1A"/>
                </a:solidFill>
              </a:rPr>
              <a:t>・200以上の業務アプリをAWSへ移行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・ITインフラコスト25%以上削減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・営業/設計/見積/施工/人事/経理を一元管理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・BIで可視化・AIで予測</a:t>
            </a:r>
          </a:p>
          <a:p>
            <a:pPr algn="l"/>
            <a:r>
              <a:rPr sz="900">
                <a:solidFill>
                  <a:srgbClr val="555555"/>
                </a:solidFill>
              </a:rPr>
              <a:t/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・新入社員（事務系）の配属ローテーションに</a:t>
            </a:r>
          </a:p>
          <a:p>
            <a:pPr algn="l"/>
            <a:r>
              <a:rPr sz="900">
                <a:solidFill>
                  <a:srgbClr val="1A1A1A"/>
                </a:solidFill>
              </a:rPr>
              <a:t>　デジタル室を追加（2022年〜）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28600"/>
            <a:ext cx="64008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総括・考察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4031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Company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6565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Copyright ©2026 Entaar Inc. All rights reserved.  | 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社長直轄化（全社共通）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3749039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555555"/>
                </a:solidFill>
              </a:rPr>
              <a:t>5社すべてがDX推進組織を社長直轄または社長室傘下に配置。
経営意思を直接現場に伝達する体制を重視している。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914400"/>
            <a:ext cx="3749039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統合型 vs 分離型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261872"/>
            <a:ext cx="3749039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555555"/>
                </a:solidFill>
              </a:rPr>
              <a:t>統合型（3社）：大林組・清水建設・竹中工務店
分離型（2社）：鹿島建設・大成建設
統合型が多数派だが、分離型でも連携体制を整備。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5592" y="914400"/>
            <a:ext cx="3749039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情報子会社の活用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5592" y="1261872"/>
            <a:ext cx="3749039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555555"/>
                </a:solidFill>
              </a:rPr>
              <a:t>大成建設のみ情報子会社（ICTソリューションズ）を活用した3層構造。
社名変更で「情報システム」から「ICTソリューション」へシフト。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3749039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CDO / CIO の設置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64991"/>
            <a:ext cx="3749039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555555"/>
                </a:solidFill>
              </a:rPr>
              <a:t>大成建設が業界初のCDOを設置。他社はCIO兼任または役員管掌レベル。
デジタルガバナンスの高度化が業界全体の課題。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3017520"/>
            <a:ext cx="3749039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組織規模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3364991"/>
            <a:ext cx="3749039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555555"/>
                </a:solidFill>
              </a:rPr>
              <a:t>大林組が最大規模（DX本部 約200名）。
他社は室・部レベル（数十名規模）で運営。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3017520"/>
            <a:ext cx="3749039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DX外部認定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3364991"/>
            <a:ext cx="3749039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555555"/>
                </a:solidFill>
              </a:rPr>
              <a:t>大成建設：DX銘柄2025（建設業で初選定）
清水建設：DX注目企業2025
各社が経産省認定を通じてDX成熟度を対外的にアピール。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